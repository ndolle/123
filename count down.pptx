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6212800" cy="14630400"/>
  <p:notesSz cx="6858000" cy="9144000"/>
  <p:embeddedFontLst>
    <p:embeddedFont>
      <p:font typeface="Arial MT Pro" charset="1" panose="020B0502020202020204"/>
      <p:regular r:id="rId7"/>
    </p:embeddedFont>
    <p:embeddedFont>
      <p:font typeface="Barlow Bold" charset="1" panose="00000800000000000000"/>
      <p:regular r:id="rId8"/>
    </p:embeddedFont>
    <p:embeddedFont>
      <p:font typeface="Barlow Medium" charset="1" panose="00000600000000000000"/>
      <p:regular r:id="rId9"/>
    </p:embeddedFont>
    <p:embeddedFont>
      <p:font typeface="Satisfy" charset="1" panose="02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30400"/>
          </a:xfrm>
          <a:custGeom>
            <a:avLst/>
            <a:gdLst/>
            <a:ahLst/>
            <a:cxnLst/>
            <a:rect r="r" b="b" t="t" l="l"/>
            <a:pathLst>
              <a:path h="14630400" w="26212800">
                <a:moveTo>
                  <a:pt x="0" y="0"/>
                </a:moveTo>
                <a:lnTo>
                  <a:pt x="26212800" y="0"/>
                </a:lnTo>
                <a:lnTo>
                  <a:pt x="26212800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7529" y="458357"/>
            <a:ext cx="24564975" cy="104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0"/>
              </a:lnSpc>
            </a:pPr>
            <a:r>
              <a:rPr lang="en-US" sz="5457" spc="27">
                <a:solidFill>
                  <a:srgbClr val="315A4C"/>
                </a:solidFill>
                <a:latin typeface="Arial MT Pro"/>
                <a:ea typeface="Arial MT Pro"/>
                <a:cs typeface="Arial MT Pro"/>
                <a:sym typeface="Arial MT Pro"/>
              </a:rPr>
              <a:t>The Quantum Countdown: Understanding HNDL, PQC, and the Road to Q-Day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5434" y="1938330"/>
            <a:ext cx="2857500" cy="301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2363" spc="9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IMMEDIATE RISK:</a:t>
            </a:r>
          </a:p>
          <a:p>
            <a:pPr algn="l">
              <a:lnSpc>
                <a:spcPts val="2491"/>
              </a:lnSpc>
            </a:pPr>
            <a:r>
              <a:rPr lang="en-US" sz="2363" spc="9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WHAT IS HNDL?</a:t>
            </a:r>
          </a:p>
          <a:p>
            <a:pPr algn="l">
              <a:lnSpc>
                <a:spcPts val="17364"/>
              </a:lnSpc>
            </a:pPr>
            <a:r>
              <a:rPr lang="en-US" sz="16475" spc="13180">
                <a:solidFill>
                  <a:srgbClr val="1F5B41"/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5533" y="4862121"/>
            <a:ext cx="3429000" cy="224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Harvest Now,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Decrypt Later (HNDL)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 surveillance strategy where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intercept and archive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encrypted traffic today to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decrypt it in the future once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powerful quantum computers</a:t>
            </a:r>
          </a:p>
          <a:p>
            <a:pPr algn="l">
              <a:lnSpc>
                <a:spcPts val="2194"/>
              </a:lnSpc>
            </a:pPr>
            <a:r>
              <a:rPr lang="en-US" sz="1952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become available.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69295" y="4863105"/>
            <a:ext cx="3552825" cy="225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"Silent" Threat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to Long-Term Data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HNDL specifically targets data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with long confidentiality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lifetimes, such as personal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health records (PHI), diplomatic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communications, and</a:t>
            </a:r>
          </a:p>
          <a:p>
            <a:pPr algn="l">
              <a:lnSpc>
                <a:spcPts val="2221"/>
              </a:lnSpc>
            </a:pPr>
            <a:r>
              <a:rPr lang="en-US" sz="1969" spc="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intellectual property.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17458" y="1896337"/>
            <a:ext cx="2495550" cy="74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432" spc="6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SOLUTION:</a:t>
            </a:r>
          </a:p>
          <a:p>
            <a:pPr algn="l">
              <a:lnSpc>
                <a:spcPts val="2763"/>
              </a:lnSpc>
            </a:pPr>
            <a:r>
              <a:rPr lang="en-US" sz="2432" spc="6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WHAT IS PQC?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0316" y="4833964"/>
            <a:ext cx="3838575" cy="316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481" spc="6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Post-Quantum</a:t>
            </a:r>
          </a:p>
          <a:p>
            <a:pPr algn="l">
              <a:lnSpc>
                <a:spcPts val="3033"/>
              </a:lnSpc>
            </a:pPr>
            <a:r>
              <a:rPr lang="en-US" sz="2555" spc="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Cryptography (PQC)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Also known as quantum-resistent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cryptography, these are algorithms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(primarily lattice-based or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hash-based) designed to resist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attacks from both classical and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 computers.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Three Primary</a:t>
            </a:r>
          </a:p>
          <a:p>
            <a:pPr algn="l">
              <a:lnSpc>
                <a:spcPts val="2334"/>
              </a:lnSpc>
            </a:pPr>
            <a:r>
              <a:rPr lang="en-US" sz="1966" spc="-5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NIST Standards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3120" y="3735876"/>
            <a:ext cx="2619375" cy="280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Q2 2026: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European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 Act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European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Commission is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scheduled to propose a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legislative framework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to foster a resilient,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sovereign quantum</a:t>
            </a:r>
          </a:p>
          <a:p>
            <a:pPr algn="l">
              <a:lnSpc>
                <a:spcPts val="2240"/>
              </a:lnSpc>
            </a:pPr>
            <a:r>
              <a:rPr lang="en-US" sz="189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ecosystem in the EU.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57623" y="1902537"/>
            <a:ext cx="5362575" cy="16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207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TIMELINE TO Q-DAY</a:t>
            </a:r>
          </a:p>
          <a:p>
            <a:pPr algn="l">
              <a:lnSpc>
                <a:spcPts val="2697"/>
              </a:lnSpc>
            </a:pPr>
            <a:r>
              <a:rPr lang="en-US" sz="207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Q-Day: The Cryptographic Collapse</a:t>
            </a:r>
          </a:p>
          <a:p>
            <a:pPr algn="l">
              <a:lnSpc>
                <a:spcPts val="2697"/>
              </a:lnSpc>
            </a:pPr>
            <a:r>
              <a:rPr lang="en-US" sz="207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Prediction markets estimate a 40% probability</a:t>
            </a:r>
          </a:p>
          <a:p>
            <a:pPr algn="l">
              <a:lnSpc>
                <a:spcPts val="2697"/>
              </a:lnSpc>
            </a:pPr>
            <a:r>
              <a:rPr lang="en-US" sz="207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that a quantum computer capable of cracking</a:t>
            </a:r>
          </a:p>
          <a:p>
            <a:pPr algn="l">
              <a:lnSpc>
                <a:spcPts val="2697"/>
              </a:lnSpc>
            </a:pPr>
            <a:r>
              <a:rPr lang="en-US" sz="207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2048-bit RSA will exist by this year.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52186" y="3920860"/>
            <a:ext cx="914400" cy="42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158" spc="3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Q-DAY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95561" y="1919180"/>
            <a:ext cx="3009900" cy="719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330" spc="144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ECONOMIC &amp;</a:t>
            </a:r>
          </a:p>
          <a:p>
            <a:pPr algn="l">
              <a:lnSpc>
                <a:spcPts val="2680"/>
              </a:lnSpc>
            </a:pPr>
            <a:r>
              <a:rPr lang="en-US" sz="2330" spc="144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INDUSTRY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46621" y="5310140"/>
            <a:ext cx="1733550" cy="103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883" spc="-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Significant</a:t>
            </a:r>
          </a:p>
          <a:p>
            <a:pPr algn="l">
              <a:lnSpc>
                <a:spcPts val="1985"/>
              </a:lnSpc>
            </a:pPr>
            <a:r>
              <a:rPr lang="en-US" sz="1883" spc="-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probability on its</a:t>
            </a:r>
          </a:p>
          <a:p>
            <a:pPr algn="l">
              <a:lnSpc>
                <a:spcPts val="1985"/>
              </a:lnSpc>
            </a:pPr>
            <a:r>
              <a:rPr lang="en-US" sz="1883" spc="-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arrival between</a:t>
            </a:r>
          </a:p>
          <a:p>
            <a:pPr algn="l">
              <a:lnSpc>
                <a:spcPts val="1985"/>
              </a:lnSpc>
            </a:pPr>
            <a:r>
              <a:rPr lang="en-US" sz="1883" spc="-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2034 and 2044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379178" y="4887449"/>
            <a:ext cx="3286125" cy="182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$12.4 Billion</a:t>
            </a:r>
          </a:p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Market Value</a:t>
            </a:r>
          </a:p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PQC market is projected</a:t>
            </a:r>
          </a:p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to grow from $1.9 billion in</a:t>
            </a:r>
          </a:p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2025 to over $12.4 billion by</a:t>
            </a:r>
          </a:p>
          <a:p>
            <a:pPr algn="l">
              <a:lnSpc>
                <a:spcPts val="2335"/>
              </a:lnSpc>
            </a:pPr>
            <a:r>
              <a:rPr lang="en-US" sz="2027" spc="-1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2035 at a 20.9% CAGR.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879" y="8296567"/>
            <a:ext cx="2876550" cy="79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735" spc="7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$500-$600 Billion</a:t>
            </a:r>
          </a:p>
          <a:p>
            <a:pPr algn="l">
              <a:lnSpc>
                <a:spcPts val="2861"/>
              </a:lnSpc>
            </a:pPr>
            <a:r>
              <a:rPr lang="en-US" sz="2735" spc="7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in Bitcoin at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3577" y="10173615"/>
            <a:ext cx="1143000" cy="117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0"/>
              </a:lnSpc>
            </a:pPr>
            <a:r>
              <a:rPr lang="en-US" sz="4126" spc="-6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25%</a:t>
            </a:r>
          </a:p>
          <a:p>
            <a:pPr algn="ctr">
              <a:lnSpc>
                <a:spcPts val="2124"/>
              </a:lnSpc>
            </a:pPr>
            <a:r>
              <a:rPr lang="en-US" sz="196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Quantum-</a:t>
            </a:r>
          </a:p>
          <a:p>
            <a:pPr algn="ctr">
              <a:lnSpc>
                <a:spcPts val="2124"/>
              </a:lnSpc>
            </a:pPr>
            <a:r>
              <a:rPr lang="en-US" sz="196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Exposed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5556" y="12538770"/>
            <a:ext cx="3848100" cy="128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786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Approximately 25% of all Bitcoins are</a:t>
            </a:r>
          </a:p>
          <a:p>
            <a:pPr algn="l">
              <a:lnSpc>
                <a:spcPts val="1980"/>
              </a:lnSpc>
            </a:pPr>
            <a:r>
              <a:rPr lang="en-US" sz="1786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"quantum-exposed" because their</a:t>
            </a:r>
          </a:p>
          <a:p>
            <a:pPr algn="l">
              <a:lnSpc>
                <a:spcPts val="1980"/>
              </a:lnSpc>
            </a:pPr>
            <a:r>
              <a:rPr lang="en-US" sz="1786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public kays are already visible on the</a:t>
            </a:r>
          </a:p>
          <a:p>
            <a:pPr algn="l">
              <a:lnSpc>
                <a:spcPts val="1980"/>
              </a:lnSpc>
            </a:pPr>
            <a:r>
              <a:rPr lang="en-US" sz="1786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blockchain, making them vulnerable</a:t>
            </a:r>
          </a:p>
          <a:p>
            <a:pPr algn="l">
              <a:lnSpc>
                <a:spcPts val="1980"/>
              </a:lnSpc>
            </a:pPr>
            <a:r>
              <a:rPr lang="en-US" sz="1786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to HNDL-style signature theft.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93543" y="8752819"/>
            <a:ext cx="2514600" cy="242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6">
                <a:solidFill>
                  <a:srgbClr val="383C37"/>
                </a:solidFill>
                <a:latin typeface="Barlow Bold"/>
                <a:ea typeface="Barlow Bold"/>
                <a:cs typeface="Barlow Bold"/>
                <a:sym typeface="Barlow Bold"/>
              </a:rPr>
              <a:t>2024-2025:</a:t>
            </a:r>
          </a:p>
          <a:p>
            <a:pPr algn="l">
              <a:lnSpc>
                <a:spcPts val="2820"/>
              </a:lnSpc>
            </a:pPr>
            <a:r>
              <a:rPr lang="en-US" sz="2425" spc="5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Transition Begins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NIST releases first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three PQC standards;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NSA releases CNSA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2.0; and the US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issues executive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orders for federal</a:t>
            </a:r>
          </a:p>
          <a:p>
            <a:pPr algn="l">
              <a:lnSpc>
                <a:spcPts val="2066"/>
              </a:lnSpc>
            </a:pPr>
            <a:r>
              <a:rPr lang="en-US" sz="1776" spc="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PQC adoption.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40293" y="8915196"/>
            <a:ext cx="3467100" cy="54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701" spc="14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FIPS 203 FIPS 204 FIPS 205</a:t>
            </a:r>
          </a:p>
          <a:p>
            <a:pPr algn="ctr">
              <a:lnSpc>
                <a:spcPts val="2053"/>
              </a:lnSpc>
            </a:pPr>
            <a:r>
              <a:rPr lang="en-US" sz="1833" spc="14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(ML-KEM) (ML-DSA) (SLH-DSA)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53628" y="9757083"/>
            <a:ext cx="3219450" cy="48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4" spc="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Finalized in August 2024, these</a:t>
            </a:r>
          </a:p>
          <a:p>
            <a:pPr algn="l">
              <a:lnSpc>
                <a:spcPts val="1799"/>
              </a:lnSpc>
            </a:pPr>
            <a:r>
              <a:rPr lang="en-US" sz="1794" spc="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are the core standards.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15756" y="10855672"/>
            <a:ext cx="942975" cy="5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7"/>
              </a:lnSpc>
            </a:pPr>
            <a:r>
              <a:rPr lang="en-US" sz="1825" spc="20">
                <a:solidFill>
                  <a:srgbClr val="4A655A"/>
                </a:solidFill>
                <a:latin typeface="Arial MT Pro"/>
                <a:ea typeface="Arial MT Pro"/>
                <a:cs typeface="Arial MT Pro"/>
                <a:sym typeface="Arial MT Pro"/>
              </a:rPr>
              <a:t>Photonic</a:t>
            </a:r>
          </a:p>
          <a:p>
            <a:pPr algn="l">
              <a:lnSpc>
                <a:spcPts val="2297"/>
              </a:lnSpc>
            </a:pPr>
            <a:r>
              <a:rPr lang="en-US" sz="1825" spc="20">
                <a:solidFill>
                  <a:srgbClr val="4A655A"/>
                </a:solidFill>
                <a:latin typeface="Arial MT Pro"/>
                <a:ea typeface="Arial MT Pro"/>
                <a:cs typeface="Arial MT Pro"/>
                <a:sym typeface="Arial MT Pro"/>
              </a:rPr>
              <a:t>signal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30748" y="11915627"/>
            <a:ext cx="3762375" cy="198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Beyond Algorithms: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Physical Layer Security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Methods like photonic shielding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and optical layer encryption can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"hide" the signal in noise,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preventing the "harvest" phase of</a:t>
            </a:r>
          </a:p>
          <a:p>
            <a:pPr algn="l">
              <a:lnSpc>
                <a:spcPts val="2226"/>
              </a:lnSpc>
            </a:pPr>
            <a:r>
              <a:rPr lang="en-US" sz="200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an HNDL attack entirely.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9865" y="8721622"/>
            <a:ext cx="3000375" cy="255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806">
                <a:solidFill>
                  <a:srgbClr val="383C37"/>
                </a:solidFill>
                <a:latin typeface="Barlow Medium"/>
                <a:ea typeface="Barlow Medium"/>
                <a:cs typeface="Barlow Medium"/>
                <a:sym typeface="Barlow Medium"/>
              </a:rPr>
              <a:t>Q2 2026: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European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 Act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European Commission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is scheduled to propose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 legislative framework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to foster a resilient,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sovereign quantum</a:t>
            </a:r>
          </a:p>
          <a:p>
            <a:pPr algn="l">
              <a:lnSpc>
                <a:spcPts val="2260"/>
              </a:lnSpc>
            </a:pPr>
            <a:r>
              <a:rPr lang="en-US" sz="1901" spc="17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ecosystem in the EU.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60655" y="11780175"/>
            <a:ext cx="2952750" cy="2127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sz="3259" spc="29">
                <a:solidFill>
                  <a:srgbClr val="383C37"/>
                </a:solidFill>
                <a:latin typeface="Satisfy"/>
                <a:ea typeface="Satisfy"/>
                <a:cs typeface="Satisfy"/>
                <a:sym typeface="Satisfy"/>
              </a:rPr>
              <a:t>2027: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Mandatory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Compliance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All new acquisitions for US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National Security Systems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(NSS) must be CNSA</a:t>
            </a:r>
          </a:p>
          <a:p>
            <a:pPr algn="l">
              <a:lnSpc>
                <a:spcPts val="2204"/>
              </a:lnSpc>
            </a:pPr>
            <a:r>
              <a:rPr lang="en-US" sz="194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2.0-compliant by default.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311431" y="8042211"/>
            <a:ext cx="828675" cy="39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036" spc="160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2030s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65288" y="8813114"/>
            <a:ext cx="3028950" cy="226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2030: The "Useful"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 Milestone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Prediction markets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estimate a 40% probability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that a quantum computer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capable of cracking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2046-bit RSA will exist by</a:t>
            </a:r>
          </a:p>
          <a:p>
            <a:pPr algn="l">
              <a:lnSpc>
                <a:spcPts val="2235"/>
              </a:lnSpc>
            </a:pPr>
            <a:r>
              <a:rPr lang="en-US" sz="201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this year.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463766" y="9912178"/>
            <a:ext cx="866775" cy="48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474" spc="96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2035: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463004" y="10367614"/>
            <a:ext cx="2133600" cy="271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"No Later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Than" Horizon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NSA's ultimate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goal for all US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national security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systems to be fully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quantum-resistant,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aligning with the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White House's</a:t>
            </a:r>
          </a:p>
          <a:p>
            <a:pPr algn="l">
              <a:lnSpc>
                <a:spcPts val="2132"/>
              </a:lnSpc>
            </a:pPr>
            <a:r>
              <a:rPr lang="en-US" sz="1920" spc="1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NSM-10 directive.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375765" y="8308538"/>
            <a:ext cx="3019425" cy="254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526" spc="2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34% Improvement in</a:t>
            </a:r>
          </a:p>
          <a:p>
            <a:pPr algn="l">
              <a:lnSpc>
                <a:spcPts val="2827"/>
              </a:lnSpc>
            </a:pPr>
            <a:r>
              <a:rPr lang="en-US" sz="2526" spc="22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Algorithmic Trading</a:t>
            </a:r>
          </a:p>
          <a:p>
            <a:pPr algn="l">
              <a:lnSpc>
                <a:spcPts val="1930"/>
              </a:lnSpc>
            </a:pPr>
            <a:r>
              <a:rPr lang="en-US" sz="1725" spc="18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HSBC and IBM demonstrated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that quantum-classical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hybrid systems could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significantly outperform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classical-only methods in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predicting bond trade till</a:t>
            </a:r>
          </a:p>
          <a:p>
            <a:pPr algn="l">
              <a:lnSpc>
                <a:spcPts val="2053"/>
              </a:lnSpc>
            </a:pPr>
            <a:r>
              <a:rPr lang="en-US" sz="1835" spc="9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probabilities.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360194" y="11596566"/>
            <a:ext cx="1628775" cy="72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7"/>
              </a:lnSpc>
            </a:pPr>
            <a:r>
              <a:rPr lang="en-US" sz="2432" spc="6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Global</a:t>
            </a:r>
          </a:p>
          <a:p>
            <a:pPr algn="just">
              <a:lnSpc>
                <a:spcPts val="2697"/>
              </a:lnSpc>
            </a:pPr>
            <a:r>
              <a:rPr lang="en-US" sz="2432" spc="63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Talent Gap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379178" y="12406658"/>
            <a:ext cx="3000375" cy="147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 projected shortage of</a:t>
            </a:r>
          </a:p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250,000 quantum</a:t>
            </a:r>
          </a:p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professionals by 2030 poses</a:t>
            </a:r>
          </a:p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a significant strategic risk to</a:t>
            </a:r>
          </a:p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the implementation of these</a:t>
            </a:r>
          </a:p>
          <a:p>
            <a:pPr algn="l">
              <a:lnSpc>
                <a:spcPts val="1940"/>
              </a:lnSpc>
            </a:pPr>
            <a:r>
              <a:rPr lang="en-US" sz="1844" spc="1">
                <a:solidFill>
                  <a:srgbClr val="383C37"/>
                </a:solidFill>
                <a:latin typeface="Arial MT Pro"/>
                <a:ea typeface="Arial MT Pro"/>
                <a:cs typeface="Arial MT Pro"/>
                <a:sym typeface="Arial MT Pro"/>
              </a:rPr>
              <a:t>security measures.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DAHB3Juhy9Q</dc:identifier>
  <dcterms:modified xsi:type="dcterms:W3CDTF">2011-08-01T06:04:30Z</dcterms:modified>
  <cp:revision>1</cp:revision>
</cp:coreProperties>
</file>