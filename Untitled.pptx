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4630400" cy="8229600"/>
  <p:notesSz cx="8229600" cy="14630400"/>
  <p:embeddedFontLst>
    <p:embeddedFont>
      <p:font typeface="Inter"/>
      <p:regular r:id="rId8"/>
    </p:embeddedFont>
    <p:embeddedFont>
      <p:font typeface="Inter"/>
      <p:regular r:id="rId9"/>
    </p:embeddedFont>
    <p:embeddedFont>
      <p:font typeface="Inter"/>
      <p:regular r:id="rId10"/>
    </p:embeddedFont>
    <p:embeddedFont>
      <p:font typeface="Inter"/>
      <p:regular r:id="rId11"/>
    </p:embeddedFont>
    <p:embeddedFont>
      <p:font typeface="Inter"/>
      <p:regular r:id="rId12"/>
    </p:embeddedFont>
    <p:embeddedFont>
      <p:font typeface="Inter"/>
      <p:regular r:id="rId13"/>
    </p:embeddedFont>
    <p:embeddedFont>
      <p:font typeface="Inter"/>
      <p:regular r:id="rId14"/>
    </p:embeddedFont>
    <p:embeddedFont>
      <p:font typeface="Inter"/>
      <p:regular r:id="rId1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Relationship Id="rId11" Type="http://schemas.openxmlformats.org/officeDocument/2006/relationships/font" Target="fonts/font4.fntdata"/><Relationship Id="rId12" Type="http://schemas.openxmlformats.org/officeDocument/2006/relationships/font" Target="fonts/font5.fntdata"/><Relationship Id="rId13" Type="http://schemas.openxmlformats.org/officeDocument/2006/relationships/font" Target="fonts/font6.fntdata"/><Relationship Id="rId14" Type="http://schemas.openxmlformats.org/officeDocument/2006/relationships/font" Target="fonts/font7.fntdata"/><Relationship Id="rId15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5083" y="738307"/>
            <a:ext cx="7317105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15306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Quantum Computing &amp; Blockchain: A Convergence Risk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665083" y="1193721"/>
            <a:ext cx="13300234" cy="267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6C71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convergence of quantum computing and blockchain technology presents a </a:t>
            </a:r>
            <a:pPr algn="l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D5A1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"low-probability but high-severity"</a:t>
            </a:r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6C71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risk to the current digital economy. While quantum computing offers potential for faster transactions and enhanced security in the long term, its near-term maturation threatens the cryptographic foundations that ensure blockchain's immutability and decentralised trust.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87216" y="1527096"/>
            <a:ext cx="6674048" cy="740093"/>
          </a:xfrm>
          <a:prstGeom prst="roundRect">
            <a:avLst>
              <a:gd name="adj" fmla="val 10516"/>
            </a:avLst>
          </a:prstGeom>
          <a:solidFill>
            <a:srgbClr val="1C3F7C"/>
          </a:solidFill>
          <a:ln/>
        </p:spPr>
      </p:sp>
      <p:sp>
        <p:nvSpPr>
          <p:cNvPr id="5" name="Text 3"/>
          <p:cNvSpPr/>
          <p:nvPr/>
        </p:nvSpPr>
        <p:spPr>
          <a:xfrm>
            <a:off x="695206" y="1585912"/>
            <a:ext cx="2292191" cy="168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Breaking Public-Key Cryptography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95206" y="1813560"/>
            <a:ext cx="6458069" cy="40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Shor's Algorithm</a:t>
            </a:r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can efficiently solve the integer factorisation and discrete logarithm problems underpinning digital signature schemes like RSA and ECDSA. This would allow a quantum-capable attacker to derive a private key from a public key — enabling forged signatures, hijacked transactions, and drained blockchain wallets.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454622" y="1585912"/>
            <a:ext cx="2020610" cy="168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5306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Compromising Hash Functions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454622" y="1813560"/>
            <a:ext cx="6518315" cy="40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6C71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Grover's Algorithm</a:t>
            </a:r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6C71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provides a quadratic speedup for unstructured searches, potentially allowing quantum miners to find block hashes significantly faster than classical ones. This could lead to monopolisation of the mining process or facilitate </a:t>
            </a:r>
            <a:pPr algn="l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6C71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"51% attacks"</a:t>
            </a:r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6C71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where a single entity rewrites the blockchain's history.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65083" y="2355413"/>
            <a:ext cx="3954304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5306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Specific Impact on Major Blockchains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65083" y="2713911"/>
            <a:ext cx="4394121" cy="1103233"/>
          </a:xfrm>
          <a:prstGeom prst="roundRect">
            <a:avLst>
              <a:gd name="adj" fmla="val 4115"/>
            </a:avLst>
          </a:prstGeom>
          <a:solidFill>
            <a:srgbClr val="F7ECD4"/>
          </a:solidFill>
          <a:ln w="7620">
            <a:solidFill>
              <a:srgbClr val="DDD2B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0693" y="2829520"/>
            <a:ext cx="1351121" cy="168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Bitcoin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80693" y="3033593"/>
            <a:ext cx="4162901" cy="534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Approximately </a:t>
            </a:r>
            <a:pPr algn="l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25–33%</a:t>
            </a:r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all bitcoins — worth hundreds of billions of dollars — are held in legacy P2PK addresses or reused addresses where the public key is already revealed on the ledger. These funds would be </a:t>
            </a:r>
            <a:pPr algn="l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immediately vulnerable</a:t>
            </a:r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once a cryptographically relevant quantum computer (CRQC) exists.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118021" y="2713911"/>
            <a:ext cx="4394240" cy="1103233"/>
          </a:xfrm>
          <a:prstGeom prst="roundRect">
            <a:avLst>
              <a:gd name="adj" fmla="val 4115"/>
            </a:avLst>
          </a:prstGeom>
          <a:solidFill>
            <a:srgbClr val="F7ECD4"/>
          </a:solidFill>
          <a:ln w="7620">
            <a:solidFill>
              <a:srgbClr val="DDD2B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33630" y="2829520"/>
            <a:ext cx="1351121" cy="168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Ethereum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233630" y="3033593"/>
            <a:ext cx="4163020" cy="66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Ethereum's proof-of-stake protocol relies on the </a:t>
            </a:r>
            <a:pPr algn="l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BLS signature scheme</a:t>
            </a:r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aggregate votes, and its "KZG" commitment schemes are quantum-vulnerable. Transitioning to quantum-resistant alternatives is a major challenge, as these alternatives are currently less efficient than the classical ones they would replace.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9571077" y="2713911"/>
            <a:ext cx="4394121" cy="1103233"/>
          </a:xfrm>
          <a:prstGeom prst="roundRect">
            <a:avLst>
              <a:gd name="adj" fmla="val 4115"/>
            </a:avLst>
          </a:prstGeom>
          <a:solidFill>
            <a:srgbClr val="F7ECD4"/>
          </a:solidFill>
          <a:ln w="7620">
            <a:solidFill>
              <a:srgbClr val="DDD2B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86687" y="2829520"/>
            <a:ext cx="1351121" cy="168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Solana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686687" y="3033593"/>
            <a:ext cx="4162901" cy="40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Some estimates suggest that </a:t>
            </a:r>
            <a:pPr algn="l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effectively all of Solana's supply</a:t>
            </a:r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could be at risk due to its high-throughput execution environment's current cryptographic assumptions — making it among the most exposed major blockchains.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65083" y="3905369"/>
            <a:ext cx="3965019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5306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"Harvest Now, Decrypt Later" (HNDL)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65083" y="4316730"/>
            <a:ext cx="6518315" cy="534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6C71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Adversaries are currently practising a </a:t>
            </a:r>
            <a:pPr algn="l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D5A1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"harvest now, decrypt later"</a:t>
            </a:r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6C71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strategy — stealing and storing encrypted blockchain data today with the intention of decrypting it once quantum hardware matures, estimated between </a:t>
            </a:r>
            <a:pPr algn="l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6C71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2030 and 2044</a:t>
            </a:r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6C71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While blockchains primarily use signatures (which only need to be secure at the time of the transaction), long-term confidential data stored on-chain or inter-bank SWIFT traffic is at significant risk.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454622" y="4330065"/>
            <a:ext cx="6518315" cy="741283"/>
          </a:xfrm>
          <a:prstGeom prst="roundRect">
            <a:avLst>
              <a:gd name="adj" fmla="val 9868"/>
            </a:avLst>
          </a:prstGeom>
          <a:solidFill>
            <a:srgbClr val="FFFFFF"/>
          </a:solidFill>
          <a:ln w="15240">
            <a:solidFill>
              <a:srgbClr val="DDD2B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39382" y="4330065"/>
            <a:ext cx="60960" cy="741283"/>
          </a:xfrm>
          <a:prstGeom prst="roundRect">
            <a:avLst>
              <a:gd name="adj" fmla="val 74472"/>
            </a:avLst>
          </a:prstGeom>
          <a:solidFill>
            <a:srgbClr val="D5A129"/>
          </a:solidFill>
          <a:ln/>
        </p:spPr>
      </p:sp>
      <p:sp>
        <p:nvSpPr>
          <p:cNvPr id="23" name="Text 21"/>
          <p:cNvSpPr/>
          <p:nvPr/>
        </p:nvSpPr>
        <p:spPr>
          <a:xfrm>
            <a:off x="7623572" y="4453295"/>
            <a:ext cx="1351121" cy="168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6C717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Erosion of Trust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623572" y="4680942"/>
            <a:ext cx="6226135" cy="267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6C71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 mathematical assumptions behind immutability weaken, the ideological foundation of the "trustless" economy could unravel.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454622" y="5130165"/>
            <a:ext cx="6518315" cy="741283"/>
          </a:xfrm>
          <a:prstGeom prst="roundRect">
            <a:avLst>
              <a:gd name="adj" fmla="val 9868"/>
            </a:avLst>
          </a:prstGeom>
          <a:solidFill>
            <a:srgbClr val="FFFFFF"/>
          </a:solidFill>
          <a:ln w="15240">
            <a:solidFill>
              <a:srgbClr val="DDD2B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39382" y="5130165"/>
            <a:ext cx="60960" cy="741283"/>
          </a:xfrm>
          <a:prstGeom prst="roundRect">
            <a:avLst>
              <a:gd name="adj" fmla="val 74472"/>
            </a:avLst>
          </a:prstGeom>
          <a:solidFill>
            <a:srgbClr val="D5A129"/>
          </a:solidFill>
          <a:ln/>
        </p:spPr>
      </p:sp>
      <p:sp>
        <p:nvSpPr>
          <p:cNvPr id="27" name="Text 25"/>
          <p:cNvSpPr/>
          <p:nvPr/>
        </p:nvSpPr>
        <p:spPr>
          <a:xfrm>
            <a:off x="7623572" y="5253395"/>
            <a:ext cx="1369100" cy="168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6C717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Economic Disruption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623572" y="5481042"/>
            <a:ext cx="6226135" cy="267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6C71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single-day quantum attack on a top-five U.S. bank's access to Fedwire could result in an indirect </a:t>
            </a:r>
            <a:pPr algn="l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6C71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GDP-at-risk impact of $2.0–$3.3 trillion</a:t>
            </a:r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6C71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454622" y="5930265"/>
            <a:ext cx="6518315" cy="741283"/>
          </a:xfrm>
          <a:prstGeom prst="roundRect">
            <a:avLst>
              <a:gd name="adj" fmla="val 9868"/>
            </a:avLst>
          </a:prstGeom>
          <a:solidFill>
            <a:srgbClr val="FFFFFF"/>
          </a:solidFill>
          <a:ln w="15240">
            <a:solidFill>
              <a:srgbClr val="DDD2B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39382" y="5930265"/>
            <a:ext cx="60960" cy="741283"/>
          </a:xfrm>
          <a:prstGeom prst="roundRect">
            <a:avLst>
              <a:gd name="adj" fmla="val 74472"/>
            </a:avLst>
          </a:prstGeom>
          <a:solidFill>
            <a:srgbClr val="D5A129"/>
          </a:solidFill>
          <a:ln/>
        </p:spPr>
      </p:sp>
      <p:sp>
        <p:nvSpPr>
          <p:cNvPr id="31" name="Text 29"/>
          <p:cNvSpPr/>
          <p:nvPr/>
        </p:nvSpPr>
        <p:spPr>
          <a:xfrm>
            <a:off x="7623572" y="6053495"/>
            <a:ext cx="1351121" cy="168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6C717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Implementation Wall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623572" y="6281142"/>
            <a:ext cx="6226135" cy="267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6C71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Transitioning to Post-Quantum Cryptography (PQC) introduces performance issues, engineering immaturity, and potential new security flaws in PQC algorithms themselves.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65083" y="6803946"/>
            <a:ext cx="13300234" cy="687348"/>
          </a:xfrm>
          <a:prstGeom prst="roundRect">
            <a:avLst>
              <a:gd name="adj" fmla="val 6605"/>
            </a:avLst>
          </a:prstGeom>
          <a:solidFill>
            <a:srgbClr val="F3E3BF"/>
          </a:solidFill>
          <a:ln/>
        </p:spPr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3073" y="6900982"/>
            <a:ext cx="168831" cy="135017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1049893" y="6889671"/>
            <a:ext cx="1379934" cy="168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Counter-Perspective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1049893" y="7117318"/>
            <a:ext cx="12807434" cy="267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Some experts, including those at </a:t>
            </a:r>
            <a:pPr algn="l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a16z</a:t>
            </a:r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argue these risks are currently overstated. They suggest a CRQC capable of causing real-world disruption is unlikely to emerge before 2030, and that immediate challenges — governance, protocol upgrade complexity, and traditional code defects — should take precedence over quantum concerns.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2026-02-24T08:11:20Z</dcterms:created>
  <dcterms:modified xsi:type="dcterms:W3CDTF">2026-02-24T08:11:20Z</dcterms:modified>
</cp:coreProperties>
</file>